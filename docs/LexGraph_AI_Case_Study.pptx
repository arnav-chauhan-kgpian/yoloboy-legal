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LEGAL SERVICES TRACK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LexGraph AI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Knowledge Graph That Finds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From Contracts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34747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12724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legal AI reads contracts.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LexGraph reads the law."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44622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 ·  FastAPI  ·  React Flow  ·  HuggingFace  ·  ChromaDB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 has a blind spot.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261872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 AI reads contracts and tells you what is present.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can tell you what is legally required but absent.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that never mentions breach notification, transfer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safeguards, or DPIA obligations looks compliant.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not. The obligations exist in the law. The silence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liability.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0"/>
            <a:ext cx="2240280" cy="2651760"/>
          </a:xfrm>
          <a:prstGeom prst="rect">
            <a:avLst/>
          </a:prstGeom>
          <a:solidFill>
            <a:srgbClr val="140009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0" y="12801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675120" y="224028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GDPR enforcement actions cite missing contractual obligations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incorrect 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6817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a contract says and what the law requires is invisible to every existing tool.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not detectable by retrieval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retrieve what exists in a document.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no model of what must exist under applicable law.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the contract says and what the law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is invisible to every existing tool.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914400"/>
            <a:ext cx="2468880" cy="3200400"/>
          </a:xfrm>
          <a:prstGeom prst="ellipse">
            <a:avLst/>
          </a:prstGeom>
          <a:solidFill>
            <a:srgbClr val="6366F1">
              <a:alpha val="2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914400"/>
            <a:ext cx="2468880" cy="3200400"/>
          </a:xfrm>
          <a:prstGeom prst="ellipse">
            <a:avLst/>
          </a:prstGeom>
          <a:solidFill>
            <a:srgbClr val="E11D48">
              <a:alpha val="28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4173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78040" y="14173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4251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The invisible gap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LexGraph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52044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250" dirty="0"/>
          </a:p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85292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law as a property graph — obligations, cases, jurisdictions, and clauses as nodes with 10 typed relationships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743200" cy="352044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19933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GAP</a:t>
            </a:r>
            <a:endParaRPr lang="en-US" sz="1250" dirty="0"/>
          </a:p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285292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Set-difference query computing every GDPR obligation the law requires but no contract clause satisfies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43200" cy="352044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34440"/>
            <a:ext cx="2743200" cy="6400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19933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</a:t>
            </a:r>
            <a:endParaRPr lang="en-US" sz="1250" dirty="0"/>
          </a:p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285292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obligations rendered as disconnected glowing nodes in React Flow — legal absence made spatially visible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Nodes — Making Legal Absence Visible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Ghost Node is a legal obligation that: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 the regulatory graph (required by law)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edge to any clause in the contract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legally required but contractually unaddressed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43400" y="1234440"/>
            <a:ext cx="0" cy="3200400"/>
          </a:xfrm>
          <a:prstGeom prst="line">
            <a:avLst/>
          </a:prstGeom>
          <a:noFill/>
          <a:ln w="12700">
            <a:solidFill>
              <a:srgbClr val="2D334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26280" y="1280160"/>
            <a:ext cx="1691640" cy="475488"/>
          </a:xfrm>
          <a:prstGeom prst="rect">
            <a:avLst/>
          </a:prstGeom>
          <a:solidFill>
            <a:srgbClr val="0A1F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28016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128016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MAPS_TO 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52360" y="1280160"/>
            <a:ext cx="1371600" cy="475488"/>
          </a:xfrm>
          <a:prstGeom prst="rect">
            <a:avLst/>
          </a:prstGeom>
          <a:solidFill>
            <a:srgbClr val="0A152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280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— obligation satisfied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2560320"/>
            <a:ext cx="2377440" cy="1188720"/>
          </a:xfrm>
          <a:prstGeom prst="rect">
            <a:avLst/>
          </a:prstGeom>
          <a:solidFill>
            <a:srgbClr val="14030A"/>
          </a:solidFill>
          <a:ln w="12700">
            <a:solidFill>
              <a:srgbClr val="E11D48"/>
            </a:solidFill>
            <a:prstDash val="dash"/>
          </a:ln>
          <a:effectLst>
            <a:outerShdw sx="100000" sy="100000" kx="0" ky="0" algn="bl" rotWithShape="0" blurRad="177800" dist="50800" dir="8100000">
              <a:srgbClr val="E11D4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2633472"/>
            <a:ext cx="502920" cy="2286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263347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29400" y="2633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35 — DPIA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LAW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CONTRACT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38587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Node — legally required, contractually absent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Node Types.  10 Relationship Types.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9144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070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agreement under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00784"/>
            <a:ext cx="914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007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7007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provision within contract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91440" cy="3474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94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mandated obligation (GDPR article)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9144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883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688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body of law (e.g. GDPR)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82112"/>
            <a:ext cx="91440" cy="34747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82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182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decision with penalty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675888"/>
            <a:ext cx="9144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675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Tribunal that decided the case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169664"/>
            <a:ext cx="914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696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1696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conflict type within a clause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1704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1371600"/>
            <a:ext cx="2606040" cy="530352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417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HAS_CLAUSE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1645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→ Clause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2029968"/>
            <a:ext cx="2606040" cy="530352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0756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MAPS_TO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2304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→ Requirement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09360" y="2688336"/>
            <a:ext cx="2606040" cy="530352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7340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CONFLICTS_WITH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46520" y="29626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→ Requirement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3346704"/>
            <a:ext cx="2606040" cy="530352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3924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HAS_REQUIREMENT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3621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→ Requirement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4005072"/>
            <a:ext cx="2606040" cy="530352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0507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ENFORCED_BY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46520" y="42793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→ Requirement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 is a Set-Difference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1417320"/>
          </a:xfrm>
          <a:prstGeom prst="rect">
            <a:avLst/>
          </a:prstGeom>
          <a:solidFill>
            <a:srgbClr val="161A27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801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993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OBLIGATIONS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mandated by GDPR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97480" cy="1417320"/>
          </a:xfrm>
          <a:prstGeom prst="rect">
            <a:avLst/>
          </a:prstGeom>
          <a:solidFill>
            <a:srgbClr val="161A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801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1993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from contract via MAPS_TO edges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97480" cy="1417320"/>
          </a:xfrm>
          <a:prstGeom prst="rect">
            <a:avLst/>
          </a:prstGeom>
          <a:solidFill>
            <a:srgbClr val="161A27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2801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72200" y="1993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286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required, contractually absent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1536192"/>
          </a:xfrm>
          <a:prstGeom prst="rect">
            <a:avLst/>
          </a:prstGeom>
          <a:solidFill>
            <a:srgbClr val="0C111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7180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all_req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framework_requirements[</a:t>
            </a:r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covered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req </a:t>
            </a:r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clause </a:t>
            </a:r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contract.clauses </a:t>
            </a:r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 </a:t>
            </a:r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clause.maps_to }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all_req - covered 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legally required, contractually absent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4622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probabilistic. A gap exists if and only if the set-difference is non-empty."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Graph Queries + Vector Search, Fused via RRF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61872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261872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15910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→ Clause → CONFLICTS_WITH → Requirement → Case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8503920" cy="658368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29968"/>
            <a:ext cx="64008" cy="65836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029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71600" y="2359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  −  Covered Requirements  =  Ghost Nodes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8503920" cy="658368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98064"/>
            <a:ext cx="64008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798064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852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CHAIN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0" y="31272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ENFORCED_BY → Case (ordered by authority_score)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8503920" cy="658368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566160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56616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621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71600" y="38953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all-MiniLM-L6-v2 · cosine · 384-dim · local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solidFill>
            <a:srgbClr val="131A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  ·  k=60  ·  graph_weight=0.70  —  Graph results weighted higher: knowledge graph encodes ground-truth legal relationships dense retrieval cannot infer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82296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2344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1965960" cy="822960"/>
          </a:xfrm>
          <a:prstGeom prst="rect">
            <a:avLst/>
          </a:prstGeom>
          <a:solidFill>
            <a:srgbClr val="151D35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2344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1965960" cy="822960"/>
          </a:xfrm>
          <a:prstGeom prst="rect">
            <a:avLst/>
          </a:prstGeom>
          <a:solidFill>
            <a:srgbClr val="151D35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2344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12344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1965960" cy="822960"/>
          </a:xfrm>
          <a:prstGeom prst="rect">
            <a:avLst/>
          </a:prstGeom>
          <a:solidFill>
            <a:srgbClr val="151D35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2344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1965960" cy="822960"/>
          </a:xfrm>
          <a:prstGeom prst="rect">
            <a:avLst/>
          </a:prstGeom>
          <a:solidFill>
            <a:srgbClr val="1A0512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6060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Nodes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6060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68880" y="2606040"/>
            <a:ext cx="1965960" cy="82296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26060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26060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2606040"/>
            <a:ext cx="1965960" cy="82296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26060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60604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2606040"/>
            <a:ext cx="1965960" cy="822960"/>
          </a:xfrm>
          <a:prstGeom prst="rect">
            <a:avLst/>
          </a:prstGeom>
          <a:solidFill>
            <a:srgbClr val="0F2922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6060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8503920" cy="475488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57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in-process.  No Docker.  No external databases.  Single uvicorn process.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Analysis with Deterministic Fallback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23360" cy="347472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llama-3.3-70b-versatile via Groq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emit_analysis tool enforces structured JSON output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and risk must cite a [CTX_*] anchor from the knowledge graph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hallucinated case names, penalties, or article numbers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069080" cy="3474720"/>
          </a:xfrm>
          <a:prstGeom prst="rect">
            <a:avLst/>
          </a:prstGeom>
          <a:solidFill>
            <a:srgbClr val="13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371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LLM call fails for any reason, the agent synthesizes results directly from the pre-computed retrieval bundle.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never silently empties."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timeout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tool call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With Four Deliberate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23360" cy="347472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533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DETAILS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Analytics Ltd (Delaware)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Healthcare GmbH (Munich)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Agreement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provisions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0390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LAW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3986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(EU) 2016/679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234440"/>
            <a:ext cx="4023360" cy="3474720"/>
          </a:xfrm>
          <a:prstGeom prst="rect">
            <a:avLst/>
          </a:prstGeom>
          <a:solidFill>
            <a:srgbClr val="13000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3533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GAPS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92040" y="1664208"/>
            <a:ext cx="201168" cy="20116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5727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Protection Impact Assessment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377440"/>
            <a:ext cx="201168" cy="20116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2286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Contractual Clauses for transfers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3090672"/>
            <a:ext cx="201168" cy="20116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999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9992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to Erasure obligations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803904"/>
            <a:ext cx="201168" cy="20116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7124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712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Privacy by Design requirements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370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Orion Payments S.A.  →  0 Ghost Nodes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OUTPUT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GDPR obligations does this contract fail to address entirely?"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1261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7512" y="1261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00784" y="1261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51376" y="1261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CASE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59168" y="1261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640080"/>
          </a:xfrm>
          <a:prstGeom prst="rect">
            <a:avLst/>
          </a:prstGeom>
          <a:solidFill>
            <a:srgbClr val="130009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72768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572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46504" y="15727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Required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97096" y="15727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Ireland — DPC 2022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04888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304288"/>
            <a:ext cx="8503920" cy="64008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04288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23042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46504" y="23042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Safeguards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97096" y="23042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— CNIL 2022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04888" y="230428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035808"/>
            <a:ext cx="8503920" cy="640080"/>
          </a:xfrm>
          <a:prstGeom prst="rect">
            <a:avLst/>
          </a:prstGeom>
          <a:solidFill>
            <a:srgbClr val="130009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35808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3035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46504" y="3035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97096" y="303580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Spain — AEPD 2021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04888" y="30358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€600K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767328"/>
            <a:ext cx="8503920" cy="64008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67328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37673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46504" y="37673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97096" y="376732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Austrian Post — DSB 2023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04888" y="3767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0A201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contract: Orion Payments S.A. — 0 Ghost Nodes. Full regulatory coverage confirmed.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Real Enforcement Cases.  €2.7B in Total Fines.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261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697480" y="1261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83480" y="126187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760720" y="1261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0" y="12618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8503920" cy="34747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72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Ireland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572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(Ireland)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572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€1.2B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915668"/>
            <a:ext cx="8503920" cy="347472"/>
          </a:xfrm>
          <a:prstGeom prst="rect">
            <a:avLst/>
          </a:prstGeom>
          <a:solidFill>
            <a:srgbClr val="0D1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522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Ireland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19522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(Ireland)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9522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19522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19522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295144"/>
            <a:ext cx="8503920" cy="34747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Europe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CNPD (Luxembourg)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2331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€746M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674620"/>
            <a:ext cx="8503920" cy="347472"/>
          </a:xfrm>
          <a:prstGeom prst="rect">
            <a:avLst/>
          </a:prstGeom>
          <a:solidFill>
            <a:srgbClr val="0D102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7111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Ireland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27111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(Ireland)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27111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27111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€225M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27111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054096"/>
            <a:ext cx="8503920" cy="34747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3090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HmbBfDI (Germany)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3090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06440" y="30906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433572"/>
            <a:ext cx="8503920" cy="347472"/>
          </a:xfrm>
          <a:prstGeom prst="rect">
            <a:avLst/>
          </a:prstGeom>
          <a:solidFill>
            <a:srgbClr val="0D102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4701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0" y="34701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(Ireland)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4701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06440" y="34701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€450K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78040" y="34701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3813048"/>
            <a:ext cx="8503920" cy="34747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38496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Austrian Post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0" y="3849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DSB (Austria)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0" y="38496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06440" y="3849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78040" y="38496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0040" y="4192524"/>
            <a:ext cx="8503920" cy="347472"/>
          </a:xfrm>
          <a:prstGeom prst="rect">
            <a:avLst/>
          </a:prstGeom>
          <a:solidFill>
            <a:srgbClr val="0D1020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42291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0" y="42291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CNIL (France)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0" y="42291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806440" y="42291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78040" y="42291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44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46085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Spain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743200" y="46085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AEPD (Spain)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029200" y="4608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806440" y="46085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€600K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178040" y="4608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Zero Infrastructure. Runs Anywhere.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3977640" cy="320040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397764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 + Python 3.11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property graph (Python dicts)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llama-3.3-70b-versatile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sentence-transformers (local)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EphemeralClient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30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via FastAPI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3977640" cy="320040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34440"/>
            <a:ext cx="39776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371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8348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TypeScript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048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(@xyflow/react)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Dagre hierarchical layout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8895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premium theme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31A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Docker.  No Neo4j.  No external vector DB.  Single  pip install + uvicorn  to run the entire backend.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with Live Graph Updates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1872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6187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stage: routing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20440" y="1261872"/>
            <a:ext cx="5166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received and classified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71450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1450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stage: retrieving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1714500"/>
            <a:ext cx="5166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+ G2 + G3 graph traversal + vector search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8503920" cy="393192"/>
          </a:xfrm>
          <a:prstGeom prst="rect">
            <a:avLst/>
          </a:prstGeom>
          <a:solidFill>
            <a:srgbClr val="131A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67128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167128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167128"/>
            <a:ext cx="5166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updates LIVE — ghost nodes appear before 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619756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619756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stage: analyzing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0440" y="2619756"/>
            <a:ext cx="5166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llama-3.3-70b-versatile tool-use call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3072384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07238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440" y="3072384"/>
            <a:ext cx="5166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cards stream into the report panel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3525012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52501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/ citations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20440" y="3525012"/>
            <a:ext cx="5166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citation cards stream 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synthesis_chunk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3977640"/>
            <a:ext cx="5166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streams token by token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4430268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430268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20440" y="4430268"/>
            <a:ext cx="5166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finished — all panels populated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" y="49194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graph_data event fires mid-stream — ghost nodes appear before the LLM analysis completes."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LexGraph Different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2618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23560" y="12618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12618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LEXGRAPH AI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8503920" cy="39319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contract text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23560" y="15544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69480" y="15544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393192"/>
          </a:xfrm>
          <a:prstGeom prst="rect">
            <a:avLst/>
          </a:prstGeom>
          <a:solidFill>
            <a:srgbClr val="0D1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clause conflicts with law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23560" y="20116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69480" y="20116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8503920" cy="39319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missing obligations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23560" y="24688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69480" y="24688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8503920" cy="393192"/>
          </a:xfrm>
          <a:prstGeom prst="rect">
            <a:avLst/>
          </a:prstGeom>
          <a:solidFill>
            <a:srgbClr val="0D102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2608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real enforcement precedent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23560" y="29260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69480" y="29260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20040" y="3383280"/>
            <a:ext cx="8503920" cy="39319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8328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legal absence (Ghost Nodes)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23560" y="33832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69480" y="33832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320040" y="3840480"/>
            <a:ext cx="8503920" cy="393192"/>
          </a:xfrm>
          <a:prstGeom prst="rect">
            <a:avLst/>
          </a:prstGeom>
          <a:solidFill>
            <a:srgbClr val="0D10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84048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infrastructure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23560" y="38404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269480" y="38404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20040" y="4297680"/>
            <a:ext cx="8503920" cy="393192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9768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gap detection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23560" y="42976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69480" y="42976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Legal Reasoning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8503920" cy="1078992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64008" cy="10789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685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34440" y="13350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73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335024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set-difference — a gap exists if and only if all_reqs − covered ≠ ∅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probabilistic. Not a confidence score. Mathematical.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8503920" cy="1078992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64008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685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234440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54203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catches semantically equivalent clauses.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deletion on request" matches Art. 17 even without the article number.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675888"/>
            <a:ext cx="8503920" cy="1078992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75888"/>
            <a:ext cx="64008" cy="10789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75888"/>
            <a:ext cx="685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087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Precedent-grounded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37490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precedent chain — every gap is backed by a real enforcement case.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35 doesn't say "might matter." It says Meta paid €17M for this exact absence.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is the Proof of Concept. The Architecture Scales.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06040" cy="3291840"/>
          </a:xfrm>
          <a:prstGeom prst="rect">
            <a:avLst/>
          </a:prstGeom>
          <a:solidFill>
            <a:srgbClr val="161A27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2016/679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obligations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enforcement cases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demo contracts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703320" y="1234440"/>
            <a:ext cx="2286000" cy="1554480"/>
          </a:xfrm>
          <a:prstGeom prst="rect">
            <a:avLst/>
          </a:prstGeom>
          <a:solidFill>
            <a:srgbClr val="161A27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703320" y="1463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033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234440"/>
            <a:ext cx="2286000" cy="1554480"/>
          </a:xfrm>
          <a:prstGeom prst="rect">
            <a:avLst/>
          </a:prstGeom>
          <a:solidFill>
            <a:srgbClr val="161A27"/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172200" y="1463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722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3320" y="2953512"/>
            <a:ext cx="2286000" cy="1554480"/>
          </a:xfrm>
          <a:prstGeom prst="rect">
            <a:avLst/>
          </a:prstGeom>
          <a:solidFill>
            <a:srgbClr val="161A27"/>
          </a:solidFill>
          <a:ln w="12700">
            <a:solidFill>
              <a:srgbClr val="818CF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703320" y="318211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03320" y="3913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2953512"/>
            <a:ext cx="2286000" cy="1554480"/>
          </a:xfrm>
          <a:prstGeom prst="rect">
            <a:avLst/>
          </a:prstGeom>
          <a:solidFill>
            <a:srgbClr val="161A27"/>
          </a:solidFill>
          <a:ln w="12700">
            <a:solidFill>
              <a:srgbClr val="E11D4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172200" y="318211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72200" y="3913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frameworks are seed data. The schema is framework-agnostic.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697480" cy="251460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6974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53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1250" dirty="0"/>
          </a:p>
          <a:p>
            <a:pPr indent="0" marL="0">
              <a:buNone/>
            </a:pPr>
            <a:r>
              <a:rPr lang="en-US" sz="1250" b="1" spc="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COUNSEL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50 vendor DPAs in a day. Every missing obligation flagged before signing."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697480" cy="251460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234440"/>
            <a:ext cx="26974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53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  <a:p>
            <a:pPr indent="0" marL="0">
              <a:buNone/>
            </a:pPr>
            <a:r>
              <a:rPr lang="en-US" sz="12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gap analysis against any regulatory update. Know immediately which contracts need revision."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97480" cy="2514600"/>
          </a:xfrm>
          <a:prstGeom prst="rect">
            <a:avLst/>
          </a:prstGeom>
          <a:solidFill>
            <a:srgbClr val="161A27"/>
          </a:solidFill>
          <a:ln w="12700">
            <a:solidFill>
              <a:srgbClr val="2D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234440"/>
            <a:ext cx="2697480" cy="6400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353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TECH</a:t>
            </a:r>
            <a:endParaRPr lang="en-US" sz="1250" dirty="0"/>
          </a:p>
          <a:p>
            <a:pPr indent="0" marL="0">
              <a:buNone/>
            </a:pPr>
            <a:r>
              <a:rPr lang="en-US" sz="1250" b="1" spc="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72200" y="210312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"Embed LexGraph as an API layer. Every contract review surfaces what's missing."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858768"/>
            <a:ext cx="2697480" cy="1005840"/>
          </a:xfrm>
          <a:prstGeom prst="rect">
            <a:avLst/>
          </a:prstGeom>
          <a:solidFill>
            <a:srgbClr val="0D1020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9534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€2.7B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4320" y="44439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fines since 2018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3858768"/>
            <a:ext cx="2697480" cy="1005840"/>
          </a:xfrm>
          <a:prstGeom prst="rect">
            <a:avLst/>
          </a:prstGeom>
          <a:solidFill>
            <a:srgbClr val="0D1020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89534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154680" y="44439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DPAs per enterprise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858768"/>
            <a:ext cx="2697480" cy="1005840"/>
          </a:xfrm>
          <a:prstGeom prst="rect">
            <a:avLst/>
          </a:prstGeom>
          <a:solidFill>
            <a:srgbClr val="0D1020"/>
          </a:solidFill>
          <a:ln w="12700">
            <a:solidFill>
              <a:srgbClr val="2D33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89534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$300–500/hr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035040" y="44439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legal review cost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61A2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legal AI asks: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this contract say?"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3657600" cy="0"/>
          </a:xfrm>
          <a:prstGeom prst="line">
            <a:avLst/>
          </a:prstGeom>
          <a:noFill/>
          <a:ln w="12700">
            <a:solidFill>
              <a:srgbClr val="2D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LexGraph asks: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this contract say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what is missing?"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difference changes everything.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cases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4297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€2.7B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fines modeled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4297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nodes on first demo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LexGraph AI — Case Study</dc:title>
  <dc:subject>PptxGenJS Presentation</dc:subject>
  <dc:creator>PptxGenJS</dc:creator>
  <cp:lastModifiedBy>PptxGenJS</cp:lastModifiedBy>
  <cp:revision>1</cp:revision>
  <dcterms:created xsi:type="dcterms:W3CDTF">2026-06-16T14:02:37Z</dcterms:created>
  <dcterms:modified xsi:type="dcterms:W3CDTF">2026-06-16T14:02:37Z</dcterms:modified>
</cp:coreProperties>
</file>